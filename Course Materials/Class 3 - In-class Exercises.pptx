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1189" r:id="rId2"/>
    <p:sldId id="119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D00236-555D-45AE-868A-BB2BAB3CDCA2}" v="60" dt="2026-01-29T01:35:18.1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7394" autoAdjust="0"/>
  </p:normalViewPr>
  <p:slideViewPr>
    <p:cSldViewPr snapToGrid="0">
      <p:cViewPr>
        <p:scale>
          <a:sx n="80" d="100"/>
          <a:sy n="80" d="100"/>
        </p:scale>
        <p:origin x="754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nnor Clark" userId="88159b7b382f7e8d" providerId="LiveId" clId="{8F9CCFCF-36D7-4CD9-A34C-F668F86FA1D5}"/>
    <pc:docChg chg="undo custSel addSld modSld">
      <pc:chgData name="Connor Clark" userId="88159b7b382f7e8d" providerId="LiveId" clId="{8F9CCFCF-36D7-4CD9-A34C-F668F86FA1D5}" dt="2026-01-29T01:38:10.039" v="192" actId="14100"/>
      <pc:docMkLst>
        <pc:docMk/>
      </pc:docMkLst>
      <pc:sldChg chg="modSp mod">
        <pc:chgData name="Connor Clark" userId="88159b7b382f7e8d" providerId="LiveId" clId="{8F9CCFCF-36D7-4CD9-A34C-F668F86FA1D5}" dt="2026-01-29T01:38:10.039" v="192" actId="14100"/>
        <pc:sldMkLst>
          <pc:docMk/>
          <pc:sldMk cId="1784233357" sldId="1189"/>
        </pc:sldMkLst>
        <pc:spChg chg="mod">
          <ac:chgData name="Connor Clark" userId="88159b7b382f7e8d" providerId="LiveId" clId="{8F9CCFCF-36D7-4CD9-A34C-F668F86FA1D5}" dt="2026-01-29T01:38:10.039" v="192" actId="14100"/>
          <ac:spMkLst>
            <pc:docMk/>
            <pc:sldMk cId="1784233357" sldId="1189"/>
            <ac:spMk id="4" creationId="{D9BC3746-4DFE-712A-3408-2220F45C3E30}"/>
          </ac:spMkLst>
        </pc:spChg>
        <pc:spChg chg="mod">
          <ac:chgData name="Connor Clark" userId="88159b7b382f7e8d" providerId="LiveId" clId="{8F9CCFCF-36D7-4CD9-A34C-F668F86FA1D5}" dt="2026-01-29T01:37:35.381" v="191" actId="20577"/>
          <ac:spMkLst>
            <pc:docMk/>
            <pc:sldMk cId="1784233357" sldId="1189"/>
            <ac:spMk id="5" creationId="{3234FEF8-A064-C557-FA02-6703244AE82E}"/>
          </ac:spMkLst>
        </pc:spChg>
      </pc:sldChg>
      <pc:sldChg chg="delSp new mod">
        <pc:chgData name="Connor Clark" userId="88159b7b382f7e8d" providerId="LiveId" clId="{8F9CCFCF-36D7-4CD9-A34C-F668F86FA1D5}" dt="2026-01-29T01:29:54.285" v="1" actId="478"/>
        <pc:sldMkLst>
          <pc:docMk/>
          <pc:sldMk cId="3056063068" sldId="1190"/>
        </pc:sldMkLst>
        <pc:spChg chg="del">
          <ac:chgData name="Connor Clark" userId="88159b7b382f7e8d" providerId="LiveId" clId="{8F9CCFCF-36D7-4CD9-A34C-F668F86FA1D5}" dt="2026-01-29T01:29:54.285" v="1" actId="478"/>
          <ac:spMkLst>
            <pc:docMk/>
            <pc:sldMk cId="3056063068" sldId="1190"/>
            <ac:spMk id="2" creationId="{821A011F-DE9F-6E95-E015-33D9ECA191BE}"/>
          </ac:spMkLst>
        </pc:spChg>
        <pc:spChg chg="del">
          <ac:chgData name="Connor Clark" userId="88159b7b382f7e8d" providerId="LiveId" clId="{8F9CCFCF-36D7-4CD9-A34C-F668F86FA1D5}" dt="2026-01-29T01:29:54.285" v="1" actId="478"/>
          <ac:spMkLst>
            <pc:docMk/>
            <pc:sldMk cId="3056063068" sldId="1190"/>
            <ac:spMk id="3" creationId="{45383FE0-E0BE-0B98-9ABC-20C975A89B1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F6FDEE-F5F3-9741-BCF6-7ED07BF6854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8D59F-0598-8940-B4FD-834D75E08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962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813A6-4059-4270-9811-9E5501CA2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9BAABC-B914-787D-CD98-046EF3E356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DBF0D3-AAC2-9417-2BF9-41C31A5F33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FADD3-2496-398E-9541-146899A75D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C96E7E-E6F3-4BC0-BC2B-3BACD21B5EF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449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AC2F6-1C62-5927-4B9F-00D4227A3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5768CB-6A5A-AB85-A252-609349DFC7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1B529-155D-AC62-3F99-603D17F3B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33C8D-2DBE-724C-BE12-3B63E58AD2F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E4176-398C-4A1E-EF35-054F896AC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B43C6-DE34-8E37-CD8B-C2200F360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A1D6-F9B2-D54C-BC78-859603C12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495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55E1B-F578-25B9-ECC7-B44B7B19A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E44E9-9B0A-0A6A-5FE1-5AC68B050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86EA9-150D-D940-A3CE-12E0C765A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33C8D-2DBE-724C-BE12-3B63E58AD2F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B66FA-D898-111E-B752-C1E6A180F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9BE95-5898-968A-AD84-20979C6B4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A1D6-F9B2-D54C-BC78-859603C12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308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8B60D-2FD8-41B9-6D79-208755264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887FD-1625-6382-F1C4-35ABD241C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6FD95-3A1C-6B80-ECE0-103A3CB18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33C8D-2DBE-724C-BE12-3B63E58AD2F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B11BF-2D36-4169-DF82-6C8FBFE99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14929-70BD-2BC2-EC51-62A891797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A1D6-F9B2-D54C-BC78-859603C12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870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A13DE-FFDD-C253-6C79-BAD8B8DB9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1C289-BE8D-04F8-89A5-3520D377B1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8BE38B-D1B8-E014-CBA4-45CBDA506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639AF-91CD-6D00-27C4-0B468E3CF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33C8D-2DBE-724C-BE12-3B63E58AD2F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3005CC-1BFB-9D78-1B8E-49FB99800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D31C52-FF59-D820-EE4E-D4784049D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A1D6-F9B2-D54C-BC78-859603C12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218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7539C-E89C-007B-28BC-3EEEBCFF9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EF55FD-FA84-4514-E807-EEC3A431A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205692-E4DC-83D9-AB82-732964C15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6AFBB0-52B4-E68E-D987-BE1BFDF9C0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D6AA91-1208-D07F-6890-5A05DDAF79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6ADD1D-087B-AA4E-4356-6506A1866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33C8D-2DBE-724C-BE12-3B63E58AD2F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7A4D04-D704-90BE-8490-3F5F3C5C8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3CCD3-A424-F316-1FB1-C6091C54A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A1D6-F9B2-D54C-BC78-859603C12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23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D1068-784A-B5B6-F139-837F28C01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82FDB4-B0CC-3513-C898-2A2F673C3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33C8D-2DBE-724C-BE12-3B63E58AD2F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46C696-29B4-9D83-C346-836C55884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E7766F-780D-DB61-A74B-4588E06FC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A1D6-F9B2-D54C-BC78-859603C12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767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D18121-3E43-49D0-E49F-F48842F55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33C8D-2DBE-724C-BE12-3B63E58AD2F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310DD-728E-5DFF-6D5D-FB8201850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AB780-F8B4-EE7F-B26A-E5E5EED0B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A1D6-F9B2-D54C-BC78-859603C12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658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F32E3-A290-05BD-9CF9-754B9815A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E2BF0-0030-BA99-C404-249F378AC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5B6F1-223C-B415-1882-9235C7F5A7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473F52-DBD1-F087-6B7B-061F27232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33C8D-2DBE-724C-BE12-3B63E58AD2F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46753B-1D21-DE86-E528-4F49442BC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F19944-E193-7A0D-BE03-1F9812B3B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A1D6-F9B2-D54C-BC78-859603C12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696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529F5-30AD-81A6-E6D9-0DB62E494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DF0D2B-BF95-585C-9304-D10BAC08B4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1DFC72-EF7F-E6C8-9153-A2FA36349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00BDF9-E26C-2513-D24E-238628744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33C8D-2DBE-724C-BE12-3B63E58AD2F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3E5DDE-ADDD-6344-6051-501591DB5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04CB8-C6CA-5ADF-1E18-73BFCF2AC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A1D6-F9B2-D54C-BC78-859603C12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130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2B283-CDB7-2A50-96AA-9558AA919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CFBE74-C5AD-0B54-1CCE-3C7680AA3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806AE-2488-E21A-ACAA-3CFCB0AD9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33C8D-2DBE-724C-BE12-3B63E58AD2F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5B428-8CB1-11D6-9F02-7D86C1C6D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2458C-4183-772A-E740-35FBDD993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A1D6-F9B2-D54C-BC78-859603C12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343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40C6B1-521A-F490-B6D6-D49A0F2D4F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5D1BB8-13BB-5224-0D7B-D183997E66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65976-B442-253B-89D8-AEFC9A53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33C8D-2DBE-724C-BE12-3B63E58AD2F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05255-0638-0D4E-C226-B3804B9B1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667BF-F3DB-5083-AA39-B445F10B7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A1D6-F9B2-D54C-BC78-859603C12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17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C9D2AF-E440-7A3C-4987-6AD03AF5E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84A428-498C-2B15-087D-D35550853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A6399-FDC2-7AB6-5E31-D91AA393BF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633C8D-2DBE-724C-BE12-3B63E58AD2F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DE0BC-E30B-1BF9-3C05-941948B78E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908AF-2CD3-590B-F344-1B0B0FBE02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06A1D6-F9B2-D54C-BC78-859603C12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200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9D355C0-B1B6-A043-34F5-0955B6D6E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BC3746-4DFE-712A-3408-2220F45C3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76924"/>
          </a:xfrm>
        </p:spPr>
        <p:txBody>
          <a:bodyPr>
            <a:normAutofit/>
          </a:bodyPr>
          <a:lstStyle/>
          <a:p>
            <a:pPr algn="ctr"/>
            <a:r>
              <a:rPr lang="en-SG" sz="4000" dirty="0"/>
              <a:t>In-class Exercises on Optimal Capacity Size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B88504-67C8-FE05-B4E5-C30D241AA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291BB-02D4-4E47-A698-2E07BBB4E26E}" type="slidenum">
              <a:rPr lang="en-US" smtClean="0"/>
              <a:t>1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234FEF8-A064-C557-FA02-6703244AE82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838200" y="1442049"/>
                <a:ext cx="10703943" cy="5050826"/>
              </a:xfrm>
            </p:spPr>
            <p:txBody>
              <a:bodyPr>
                <a:noAutofit/>
              </a:bodyPr>
              <a:lstStyle/>
              <a:p>
                <a:pPr marL="276225" indent="-276225">
                  <a:spcBef>
                    <a:spcPts val="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SG" sz="2200" dirty="0"/>
                  <a:t>If C</a:t>
                </a:r>
                <a:r>
                  <a:rPr lang="en-SG" sz="2200" baseline="-25000" dirty="0"/>
                  <a:t>k</a:t>
                </a:r>
                <a:r>
                  <a:rPr lang="en-SG" sz="2200" dirty="0"/>
                  <a:t>=30, C</a:t>
                </a:r>
                <a:r>
                  <a:rPr lang="en-SG" sz="2200" baseline="-25000" dirty="0"/>
                  <a:t>p</a:t>
                </a:r>
                <a:r>
                  <a:rPr lang="en-SG" sz="2200" dirty="0"/>
                  <a:t>=30, m=30, what’s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SG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sz="22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SG" sz="2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SG" sz="2200" dirty="0"/>
                          <m:t>c</m:t>
                        </m:r>
                        <m:r>
                          <m:rPr>
                            <m:nor/>
                          </m:rPr>
                          <a:rPr lang="en-SG" sz="2200" baseline="-25000" dirty="0"/>
                          <m:t>p</m:t>
                        </m:r>
                        <m:r>
                          <m:rPr>
                            <m:nor/>
                          </m:rPr>
                          <a:rPr lang="en-SG" sz="2200" dirty="0"/>
                          <m:t>−</m:t>
                        </m:r>
                        <m:r>
                          <m:rPr>
                            <m:nor/>
                          </m:rPr>
                          <a:rPr lang="en-SG" sz="2200" dirty="0"/>
                          <m:t>ck</m:t>
                        </m:r>
                        <m:r>
                          <m:rPr>
                            <m:nor/>
                          </m:rPr>
                          <a:rPr lang="en-SG" sz="2200" baseline="-25000" dirty="0"/>
                          <m:t>  </m:t>
                        </m:r>
                      </m:num>
                      <m:den>
                        <m:r>
                          <a:rPr lang="en-SG" sz="22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SG" sz="2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SG" sz="2200" dirty="0"/>
                          <m:t>c</m:t>
                        </m:r>
                        <m:r>
                          <m:rPr>
                            <m:nor/>
                          </m:rPr>
                          <a:rPr lang="en-SG" sz="2200" baseline="-25000" dirty="0"/>
                          <m:t>p</m:t>
                        </m:r>
                      </m:den>
                    </m:f>
                  </m:oMath>
                </a14:m>
                <a:r>
                  <a:rPr lang="en-SG" sz="2200" dirty="0"/>
                  <a:t> ?  </a:t>
                </a:r>
                <a:r>
                  <a:rPr lang="en-SG" sz="2200" dirty="0">
                    <a:solidFill>
                      <a:schemeClr val="accent4"/>
                    </a:solidFill>
                  </a:rPr>
                  <a:t>30/60 = 0.5</a:t>
                </a:r>
                <a:endParaRPr lang="en-SG" sz="2200" u="sng" dirty="0">
                  <a:solidFill>
                    <a:schemeClr val="accent4"/>
                  </a:solidFill>
                </a:endParaRPr>
              </a:p>
              <a:p>
                <a:pPr marL="623888" lvl="2" indent="-255588">
                  <a:spcBef>
                    <a:spcPts val="0"/>
                  </a:spcBef>
                  <a:spcAft>
                    <a:spcPts val="600"/>
                  </a:spcAft>
                  <a:buFont typeface="+mj-lt"/>
                  <a:buAutoNum type="alphaUcPeriod"/>
                </a:pPr>
                <a:r>
                  <a:rPr lang="en-SG" sz="2200" dirty="0">
                    <a:solidFill>
                      <a:schemeClr val="tx1"/>
                    </a:solidFill>
                  </a:rPr>
                  <a:t>When demand is discrete</a:t>
                </a:r>
                <a:r>
                  <a:rPr lang="en-SG" sz="2200" dirty="0"/>
                  <a:t>, i.e. High (120) and Low (80), equally likely, what’s </a:t>
                </a:r>
                <a:r>
                  <a:rPr lang="en-SG" sz="2200" dirty="0">
                    <a:solidFill>
                      <a:schemeClr val="tx1"/>
                    </a:solidFill>
                  </a:rPr>
                  <a:t>optimal K? </a:t>
                </a:r>
                <a:r>
                  <a:rPr lang="en-SG" sz="2200" dirty="0">
                    <a:solidFill>
                      <a:schemeClr val="accent4"/>
                    </a:solidFill>
                  </a:rPr>
                  <a:t>80</a:t>
                </a:r>
              </a:p>
              <a:p>
                <a:pPr marL="623888" lvl="2" indent="-255588">
                  <a:spcBef>
                    <a:spcPts val="0"/>
                  </a:spcBef>
                  <a:spcAft>
                    <a:spcPts val="600"/>
                  </a:spcAft>
                  <a:buFont typeface="+mj-lt"/>
                  <a:buAutoNum type="alphaUcPeriod"/>
                </a:pPr>
                <a:r>
                  <a:rPr lang="en-SG" sz="2200" dirty="0">
                    <a:solidFill>
                      <a:schemeClr val="tx1"/>
                    </a:solidFill>
                  </a:rPr>
                  <a:t>When demand is </a:t>
                </a:r>
                <a:r>
                  <a:rPr lang="en-SG" sz="2200" dirty="0"/>
                  <a:t>Normal </a:t>
                </a:r>
                <a:r>
                  <a:rPr lang="en-SG" sz="2200" dirty="0">
                    <a:latin typeface="Symbol" panose="05050102010706020507" pitchFamily="18" charset="2"/>
                  </a:rPr>
                  <a:t>(</a:t>
                </a:r>
                <a:r>
                  <a:rPr lang="en-SG" sz="2200" dirty="0"/>
                  <a:t>100, 10</a:t>
                </a:r>
                <a:r>
                  <a:rPr lang="en-SG" sz="2200" baseline="30000" dirty="0"/>
                  <a:t>2</a:t>
                </a:r>
                <a:r>
                  <a:rPr lang="en-SG" sz="2200" dirty="0"/>
                  <a:t>),</a:t>
                </a:r>
                <a:r>
                  <a:rPr lang="en-SG" sz="2200" dirty="0">
                    <a:solidFill>
                      <a:schemeClr val="tx1"/>
                    </a:solidFill>
                  </a:rPr>
                  <a:t> what’s optimal K? </a:t>
                </a:r>
                <a:r>
                  <a:rPr lang="en-SG" sz="2200" dirty="0">
                    <a:solidFill>
                      <a:schemeClr val="accent4"/>
                    </a:solidFill>
                  </a:rPr>
                  <a:t>100</a:t>
                </a:r>
              </a:p>
              <a:p>
                <a:pPr marL="276225" indent="-276225">
                  <a:spcBef>
                    <a:spcPts val="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SG" sz="2200" dirty="0"/>
                  <a:t>If C</a:t>
                </a:r>
                <a:r>
                  <a:rPr lang="en-SG" sz="2200" baseline="-25000" dirty="0"/>
                  <a:t>k</a:t>
                </a:r>
                <a:r>
                  <a:rPr lang="en-SG" sz="2200" dirty="0"/>
                  <a:t>=5, C</a:t>
                </a:r>
                <a:r>
                  <a:rPr lang="en-SG" sz="2200" baseline="-25000" dirty="0"/>
                  <a:t>p</a:t>
                </a:r>
                <a:r>
                  <a:rPr lang="en-SG" sz="2200" dirty="0"/>
                  <a:t>=30, m=30, what’s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SG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sz="22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SG" sz="2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SG" sz="2200" dirty="0"/>
                          <m:t>c</m:t>
                        </m:r>
                        <m:r>
                          <m:rPr>
                            <m:nor/>
                          </m:rPr>
                          <a:rPr lang="en-SG" sz="2200" baseline="-25000" dirty="0"/>
                          <m:t>p</m:t>
                        </m:r>
                        <m:r>
                          <m:rPr>
                            <m:nor/>
                          </m:rPr>
                          <a:rPr lang="en-SG" sz="2200" dirty="0"/>
                          <m:t>−</m:t>
                        </m:r>
                        <m:r>
                          <m:rPr>
                            <m:nor/>
                          </m:rPr>
                          <a:rPr lang="en-SG" sz="2200" dirty="0"/>
                          <m:t>ck</m:t>
                        </m:r>
                        <m:r>
                          <m:rPr>
                            <m:nor/>
                          </m:rPr>
                          <a:rPr lang="en-SG" sz="2200" baseline="-25000" dirty="0"/>
                          <m:t>  </m:t>
                        </m:r>
                      </m:num>
                      <m:den>
                        <m:r>
                          <a:rPr lang="en-SG" sz="22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SG" sz="2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SG" sz="2200" dirty="0"/>
                          <m:t>c</m:t>
                        </m:r>
                        <m:r>
                          <m:rPr>
                            <m:nor/>
                          </m:rPr>
                          <a:rPr lang="en-SG" sz="2200" baseline="-25000" dirty="0"/>
                          <m:t>p</m:t>
                        </m:r>
                      </m:den>
                    </m:f>
                  </m:oMath>
                </a14:m>
                <a:r>
                  <a:rPr lang="en-SG" sz="2200" dirty="0"/>
                  <a:t> ? </a:t>
                </a:r>
                <a:r>
                  <a:rPr lang="en-SG" sz="2200" dirty="0">
                    <a:solidFill>
                      <a:schemeClr val="accent4"/>
                    </a:solidFill>
                  </a:rPr>
                  <a:t>55/60 = 0.9167</a:t>
                </a:r>
                <a:endParaRPr lang="en-SG" sz="2200" u="sng" dirty="0">
                  <a:solidFill>
                    <a:schemeClr val="accent4"/>
                  </a:solidFill>
                </a:endParaRPr>
              </a:p>
              <a:p>
                <a:pPr marL="623888" lvl="2" indent="-266700">
                  <a:spcBef>
                    <a:spcPts val="0"/>
                  </a:spcBef>
                  <a:spcAft>
                    <a:spcPts val="600"/>
                  </a:spcAft>
                  <a:buFont typeface="+mj-lt"/>
                  <a:buAutoNum type="alphaUcPeriod"/>
                </a:pPr>
                <a:r>
                  <a:rPr lang="en-SG" sz="2200" dirty="0">
                    <a:solidFill>
                      <a:schemeClr val="tx1"/>
                    </a:solidFill>
                  </a:rPr>
                  <a:t>When demand is discrete</a:t>
                </a:r>
                <a:r>
                  <a:rPr lang="en-SG" sz="2200" dirty="0"/>
                  <a:t>, i.e. High (120) and Low (80), equally likely, what’s </a:t>
                </a:r>
                <a:r>
                  <a:rPr lang="en-SG" sz="2200" dirty="0">
                    <a:solidFill>
                      <a:schemeClr val="tx1"/>
                    </a:solidFill>
                  </a:rPr>
                  <a:t>optimal K</a:t>
                </a:r>
                <a:r>
                  <a:rPr lang="en-SG" sz="2200" dirty="0"/>
                  <a:t>? </a:t>
                </a:r>
                <a:r>
                  <a:rPr lang="en-SG" sz="2200" dirty="0">
                    <a:solidFill>
                      <a:schemeClr val="accent4"/>
                    </a:solidFill>
                  </a:rPr>
                  <a:t>120</a:t>
                </a:r>
              </a:p>
              <a:p>
                <a:pPr marL="623888" lvl="2" indent="-266700">
                  <a:spcBef>
                    <a:spcPts val="0"/>
                  </a:spcBef>
                  <a:spcAft>
                    <a:spcPts val="600"/>
                  </a:spcAft>
                  <a:buFont typeface="+mj-lt"/>
                  <a:buAutoNum type="alphaUcPeriod"/>
                </a:pPr>
                <a:r>
                  <a:rPr lang="en-SG" sz="2200" dirty="0">
                    <a:solidFill>
                      <a:schemeClr val="tx1"/>
                    </a:solidFill>
                  </a:rPr>
                  <a:t>When demand is </a:t>
                </a:r>
                <a:r>
                  <a:rPr lang="en-SG" sz="2200" dirty="0"/>
                  <a:t>Normal </a:t>
                </a:r>
                <a:r>
                  <a:rPr lang="en-SG" sz="2200" dirty="0">
                    <a:latin typeface="Symbol" panose="05050102010706020507" pitchFamily="18" charset="2"/>
                  </a:rPr>
                  <a:t>(</a:t>
                </a:r>
                <a:r>
                  <a:rPr lang="en-SG" sz="2200" dirty="0"/>
                  <a:t>100, 10</a:t>
                </a:r>
                <a:r>
                  <a:rPr lang="en-SG" sz="2200" baseline="30000" dirty="0"/>
                  <a:t>2</a:t>
                </a:r>
                <a:r>
                  <a:rPr lang="en-SG" sz="2200" dirty="0"/>
                  <a:t>),</a:t>
                </a:r>
                <a:r>
                  <a:rPr lang="en-SG" sz="2200" dirty="0">
                    <a:solidFill>
                      <a:schemeClr val="tx1"/>
                    </a:solidFill>
                  </a:rPr>
                  <a:t> what’s optimal K </a:t>
                </a:r>
                <a:r>
                  <a:rPr lang="en-US" sz="2200" dirty="0">
                    <a:solidFill>
                      <a:schemeClr val="tx1"/>
                    </a:solidFill>
                  </a:rPr>
                  <a:t>? </a:t>
                </a:r>
                <a:r>
                  <a:rPr lang="en-US" sz="2200" dirty="0">
                    <a:solidFill>
                      <a:schemeClr val="accent4"/>
                    </a:solidFill>
                  </a:rPr>
                  <a:t>z of 1.4 -&gt; 100+14 = 114</a:t>
                </a:r>
                <a:endParaRPr lang="en-SG" sz="2200" dirty="0">
                  <a:solidFill>
                    <a:schemeClr val="accent4"/>
                  </a:solidFill>
                </a:endParaRPr>
              </a:p>
              <a:p>
                <a:pPr marL="276225" indent="-276225">
                  <a:spcBef>
                    <a:spcPts val="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SG" sz="2200" dirty="0"/>
                  <a:t>If C</a:t>
                </a:r>
                <a:r>
                  <a:rPr lang="en-SG" sz="2200" baseline="-25000" dirty="0"/>
                  <a:t>k</a:t>
                </a:r>
                <a:r>
                  <a:rPr lang="en-SG" sz="2200" dirty="0"/>
                  <a:t>=55, C</a:t>
                </a:r>
                <a:r>
                  <a:rPr lang="en-SG" sz="2200" baseline="-25000" dirty="0"/>
                  <a:t>p</a:t>
                </a:r>
                <a:r>
                  <a:rPr lang="en-SG" sz="2200" dirty="0"/>
                  <a:t>=30, m=30, what’s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SG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sz="22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SG" sz="2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SG" sz="2200" dirty="0"/>
                          <m:t>c</m:t>
                        </m:r>
                        <m:r>
                          <m:rPr>
                            <m:nor/>
                          </m:rPr>
                          <a:rPr lang="en-SG" sz="2200" baseline="-25000" dirty="0"/>
                          <m:t>p</m:t>
                        </m:r>
                        <m:r>
                          <m:rPr>
                            <m:nor/>
                          </m:rPr>
                          <a:rPr lang="en-SG" sz="2200" dirty="0"/>
                          <m:t>−</m:t>
                        </m:r>
                        <m:r>
                          <m:rPr>
                            <m:nor/>
                          </m:rPr>
                          <a:rPr lang="en-SG" sz="2200" dirty="0"/>
                          <m:t>ck</m:t>
                        </m:r>
                        <m:r>
                          <m:rPr>
                            <m:nor/>
                          </m:rPr>
                          <a:rPr lang="en-SG" sz="2200" baseline="-25000" dirty="0"/>
                          <m:t>  </m:t>
                        </m:r>
                      </m:num>
                      <m:den>
                        <m:r>
                          <a:rPr lang="en-SG" sz="22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SG" sz="2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SG" sz="2200" dirty="0"/>
                          <m:t>c</m:t>
                        </m:r>
                        <m:r>
                          <m:rPr>
                            <m:nor/>
                          </m:rPr>
                          <a:rPr lang="en-SG" sz="2200" baseline="-25000" dirty="0"/>
                          <m:t>p</m:t>
                        </m:r>
                      </m:den>
                    </m:f>
                  </m:oMath>
                </a14:m>
                <a:r>
                  <a:rPr lang="en-SG" sz="2200" dirty="0"/>
                  <a:t> ? </a:t>
                </a:r>
                <a:r>
                  <a:rPr lang="en-SG" sz="2200" dirty="0">
                    <a:solidFill>
                      <a:schemeClr val="accent4"/>
                    </a:solidFill>
                  </a:rPr>
                  <a:t>5/60 = 0.0833</a:t>
                </a:r>
                <a:endParaRPr lang="en-SG" sz="2200" u="sng" dirty="0">
                  <a:solidFill>
                    <a:schemeClr val="accent4"/>
                  </a:solidFill>
                </a:endParaRPr>
              </a:p>
              <a:p>
                <a:pPr marL="623888" lvl="2" indent="-266700">
                  <a:spcBef>
                    <a:spcPts val="0"/>
                  </a:spcBef>
                  <a:spcAft>
                    <a:spcPts val="600"/>
                  </a:spcAft>
                  <a:buFont typeface="+mj-lt"/>
                  <a:buAutoNum type="alphaUcPeriod"/>
                </a:pPr>
                <a:r>
                  <a:rPr lang="en-SG" sz="2200" dirty="0">
                    <a:solidFill>
                      <a:schemeClr val="tx1"/>
                    </a:solidFill>
                  </a:rPr>
                  <a:t>When demand is discrete</a:t>
                </a:r>
                <a:r>
                  <a:rPr lang="en-SG" sz="2200" dirty="0"/>
                  <a:t>, i.e. High (120) and Low (80), equally likely, what’s </a:t>
                </a:r>
                <a:r>
                  <a:rPr lang="en-SG" sz="2200" dirty="0">
                    <a:solidFill>
                      <a:schemeClr val="tx1"/>
                    </a:solidFill>
                  </a:rPr>
                  <a:t>optimal K</a:t>
                </a:r>
                <a:r>
                  <a:rPr lang="en-SG" sz="2200" dirty="0"/>
                  <a:t>? </a:t>
                </a:r>
                <a:r>
                  <a:rPr lang="en-SG" sz="2200" dirty="0">
                    <a:solidFill>
                      <a:schemeClr val="accent4"/>
                    </a:solidFill>
                  </a:rPr>
                  <a:t>80</a:t>
                </a:r>
              </a:p>
              <a:p>
                <a:pPr marL="623888" lvl="2" indent="-266700">
                  <a:spcBef>
                    <a:spcPts val="0"/>
                  </a:spcBef>
                  <a:spcAft>
                    <a:spcPts val="600"/>
                  </a:spcAft>
                  <a:buFont typeface="+mj-lt"/>
                  <a:buAutoNum type="alphaUcPeriod"/>
                </a:pPr>
                <a:r>
                  <a:rPr lang="en-SG" sz="2200" dirty="0">
                    <a:solidFill>
                      <a:schemeClr val="tx1"/>
                    </a:solidFill>
                  </a:rPr>
                  <a:t>When demand is </a:t>
                </a:r>
                <a:r>
                  <a:rPr lang="en-SG" sz="2200" dirty="0"/>
                  <a:t>Normal </a:t>
                </a:r>
                <a:r>
                  <a:rPr lang="en-SG" sz="2200" dirty="0">
                    <a:latin typeface="Symbol" panose="05050102010706020507" pitchFamily="18" charset="2"/>
                  </a:rPr>
                  <a:t>(</a:t>
                </a:r>
                <a:r>
                  <a:rPr lang="en-SG" sz="2200" dirty="0"/>
                  <a:t>100, 10</a:t>
                </a:r>
                <a:r>
                  <a:rPr lang="en-SG" sz="2200" baseline="30000" dirty="0"/>
                  <a:t>2</a:t>
                </a:r>
                <a:r>
                  <a:rPr lang="en-SG" sz="2200" dirty="0"/>
                  <a:t>),</a:t>
                </a:r>
                <a:r>
                  <a:rPr lang="en-SG" sz="2200" dirty="0">
                    <a:solidFill>
                      <a:schemeClr val="tx1"/>
                    </a:solidFill>
                  </a:rPr>
                  <a:t> what’s optimal </a:t>
                </a:r>
                <a:r>
                  <a:rPr lang="en-US" sz="2200" dirty="0">
                    <a:solidFill>
                      <a:schemeClr val="tx1"/>
                    </a:solidFill>
                  </a:rPr>
                  <a:t>K? </a:t>
                </a:r>
                <a:r>
                  <a:rPr lang="en-US" sz="2200" dirty="0">
                    <a:solidFill>
                      <a:schemeClr val="accent4"/>
                    </a:solidFill>
                  </a:rPr>
                  <a:t>z of -1.4 -&gt; 100-14 = 86</a:t>
                </a:r>
                <a:endParaRPr lang="en-SG" sz="2200" dirty="0">
                  <a:solidFill>
                    <a:schemeClr val="accent4"/>
                  </a:solidFill>
                </a:endParaRP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234FEF8-A064-C557-FA02-6703244AE8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838200" y="1442049"/>
                <a:ext cx="10703943" cy="5050826"/>
              </a:xfrm>
              <a:blipFill>
                <a:blip r:embed="rId3"/>
                <a:stretch>
                  <a:fillRect l="-798" b="-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4233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6063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198</Words>
  <Application>Microsoft Office PowerPoint</Application>
  <PresentationFormat>Widescreen</PresentationFormat>
  <Paragraphs>12</Paragraphs>
  <Slides>2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Symbol</vt:lpstr>
      <vt:lpstr>Office Theme</vt:lpstr>
      <vt:lpstr>In-class Exercises on Optimal Capacity Size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 Mei</dc:creator>
  <cp:lastModifiedBy>Connor Clark</cp:lastModifiedBy>
  <cp:revision>3</cp:revision>
  <dcterms:created xsi:type="dcterms:W3CDTF">2025-10-15T09:25:02Z</dcterms:created>
  <dcterms:modified xsi:type="dcterms:W3CDTF">2026-01-29T01:38:20Z</dcterms:modified>
</cp:coreProperties>
</file>