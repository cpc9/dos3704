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3" r:id="rId1"/>
  </p:sldMasterIdLst>
  <p:notesMasterIdLst>
    <p:notesMasterId r:id="rId4"/>
  </p:notesMasterIdLst>
  <p:handoutMasterIdLst>
    <p:handoutMasterId r:id="rId5"/>
  </p:handoutMasterIdLst>
  <p:sldIdLst>
    <p:sldId id="504" r:id="rId2"/>
    <p:sldId id="503" r:id="rId3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00000"/>
    <a:srgbClr val="FF6600"/>
    <a:srgbClr val="0033CC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7" autoAdjust="0"/>
    <p:restoredTop sz="78998" autoAdjust="0"/>
  </p:normalViewPr>
  <p:slideViewPr>
    <p:cSldViewPr>
      <p:cViewPr varScale="1">
        <p:scale>
          <a:sx n="71" d="100"/>
          <a:sy n="71" d="100"/>
        </p:scale>
        <p:origin x="21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417B7A5-DD71-42F8-9308-5027C62CD7C7}" type="datetimeFigureOut">
              <a:rPr lang="en-US" smtClean="0"/>
              <a:t>8/16/25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F005EFE1-763C-4ADB-8F02-CF3F9B6E2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84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8E4FDD6-1725-4CC7-AC44-6523F4A9FD61}" type="datetimeFigureOut">
              <a:rPr lang="en-US" smtClean="0"/>
              <a:t>8/16/25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0DC96E7E-E6F3-4BC0-BC2B-3BACD21B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08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3791-8BAF-BCDB-BB2A-2EC0E03E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A0D2E-8BEA-46FC-DD59-B9F482F7C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C5430-4DAD-B5D3-3B40-F63F40C74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E0056-C1AC-5EFF-007E-CF3E25476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AE2BA-4A67-4140-B537-DF0D364D49CF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3073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15F81-58EE-748D-EF86-9531F60E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2716D-89B1-E8DD-D890-9C6873B1D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2F8C2-7311-2E2E-82AE-B77F40989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baseline="0" dirty="0"/>
          </a:p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9B96F-2872-9ACB-6479-7FB3EC8D6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AE2BA-4A67-4140-B537-DF0D364D49CF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0451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C42BD-ED5C-435B-ADEE-DB00B001C9A5}" type="datetime1">
              <a:rPr lang="en-US" smtClean="0"/>
              <a:t>8/16/25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DSC4211C by Dr. Mei QI @NUS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91BB-02D4-4E47-A698-2E07BBB4E26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756-80D4-4D4D-AA15-898D24D50B4D}" type="datetime1">
              <a:rPr lang="en-US" smtClean="0"/>
              <a:t>8/16/25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DSC4211C by Dr. Mei QI @NUS Business School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91BB-02D4-4E47-A698-2E07BBB4E26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BF88-44D8-4D44-A880-D1DC4853D863}" type="datetime1">
              <a:rPr lang="en-US" smtClean="0"/>
              <a:t>8/16/25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DSC4211C by Dr. Mei QI @NUS Business School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91BB-02D4-4E47-A698-2E07BBB4E26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55522AE-B27D-4DF4-B536-9FA26F30CEED}" type="datetime1">
              <a:rPr lang="en-US" smtClean="0"/>
              <a:t>8/16/25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43403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DSC4211C by Dr. Mei QI @NUS Business School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90291BB-02D4-4E47-A698-2E07BBB4E26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9" r:id="rId2"/>
    <p:sldLayoutId id="2147483680" r:id="rId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7F511-219E-D8F5-8A10-114A71DB6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6C18E-6910-E215-B3DE-1F607C4D3F0B}"/>
              </a:ext>
            </a:extLst>
          </p:cNvPr>
          <p:cNvSpPr/>
          <p:nvPr/>
        </p:nvSpPr>
        <p:spPr>
          <a:xfrm>
            <a:off x="609600" y="2286000"/>
            <a:ext cx="7686136" cy="702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 sz="1350" b="1" u="sng" dirty="0">
              <a:solidFill>
                <a:schemeClr val="tx1"/>
              </a:solidFill>
            </a:endParaRPr>
          </a:p>
          <a:p>
            <a:pPr algn="ctr"/>
            <a:r>
              <a:rPr lang="en-SG" sz="1350" b="1" u="sng" dirty="0">
                <a:solidFill>
                  <a:schemeClr val="tx1"/>
                </a:solidFill>
              </a:rPr>
              <a:t>Capabilities view of operations</a:t>
            </a:r>
          </a:p>
          <a:p>
            <a:pPr algn="ctr"/>
            <a:r>
              <a:rPr lang="en-SG" sz="1350" dirty="0">
                <a:solidFill>
                  <a:schemeClr val="tx1"/>
                </a:solidFill>
              </a:rPr>
              <a:t>Superb Quality and flexibility</a:t>
            </a: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D2730C-B0BD-569E-ECB8-2FB544BE9891}"/>
              </a:ext>
            </a:extLst>
          </p:cNvPr>
          <p:cNvSpPr/>
          <p:nvPr/>
        </p:nvSpPr>
        <p:spPr>
          <a:xfrm>
            <a:off x="796651" y="3472106"/>
            <a:ext cx="2388344" cy="26301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r>
              <a:rPr lang="en-SG" sz="1350" b="1" u="sng" dirty="0">
                <a:solidFill>
                  <a:schemeClr val="tx1"/>
                </a:solidFill>
              </a:rPr>
              <a:t>Resource View of operations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Size</a:t>
            </a:r>
            <a:r>
              <a:rPr lang="en-SG" sz="1350" dirty="0">
                <a:solidFill>
                  <a:schemeClr val="tx1"/>
                </a:solidFill>
              </a:rPr>
              <a:t>: small to target high-end customers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Timing</a:t>
            </a:r>
            <a:r>
              <a:rPr lang="en-SG" sz="1350" dirty="0">
                <a:solidFill>
                  <a:schemeClr val="tx1"/>
                </a:solidFill>
              </a:rPr>
              <a:t>: down-sizing and closures due to market change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Type</a:t>
            </a:r>
            <a:r>
              <a:rPr lang="en-SG" sz="1350" dirty="0">
                <a:solidFill>
                  <a:schemeClr val="tx1"/>
                </a:solidFill>
              </a:rPr>
              <a:t>: flexible manual (master artists compile a piece of living art) job shop style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Location</a:t>
            </a:r>
            <a:r>
              <a:rPr lang="en-SG" sz="1350" dirty="0">
                <a:solidFill>
                  <a:schemeClr val="tx1"/>
                </a:solidFill>
              </a:rPr>
              <a:t>: Switzerland</a:t>
            </a: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F1523D-58B5-6230-F865-CBE7C7426F79}"/>
              </a:ext>
            </a:extLst>
          </p:cNvPr>
          <p:cNvSpPr/>
          <p:nvPr/>
        </p:nvSpPr>
        <p:spPr>
          <a:xfrm>
            <a:off x="3344855" y="3455742"/>
            <a:ext cx="4894535" cy="26301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r>
              <a:rPr lang="en-SG" sz="1350" b="1" u="sng" dirty="0">
                <a:solidFill>
                  <a:schemeClr val="tx1"/>
                </a:solidFill>
              </a:rPr>
              <a:t>Process View of operations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Supply</a:t>
            </a:r>
            <a:r>
              <a:rPr lang="en-SG" sz="1350" dirty="0">
                <a:solidFill>
                  <a:schemeClr val="tx1"/>
                </a:solidFill>
              </a:rPr>
              <a:t>: components fabrications and assembles were all in Switzerland, vertically integrated SC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Technology</a:t>
            </a:r>
            <a:r>
              <a:rPr lang="en-SG" sz="1350" dirty="0">
                <a:solidFill>
                  <a:schemeClr val="tx1"/>
                </a:solidFill>
              </a:rPr>
              <a:t>: </a:t>
            </a:r>
          </a:p>
          <a:p>
            <a:pPr marL="139700" indent="-139700">
              <a:buFont typeface="Arial" panose="020B0604020202020204" pitchFamily="34" charset="0"/>
              <a:buChar char="•"/>
            </a:pPr>
            <a:r>
              <a:rPr lang="en-SG" sz="1350" dirty="0">
                <a:solidFill>
                  <a:schemeClr val="tx1"/>
                </a:solidFill>
              </a:rPr>
              <a:t>Process Tech: master artists manually compile each watch using flexible tools</a:t>
            </a:r>
          </a:p>
          <a:p>
            <a:pPr marL="269875" lvl="1" indent="-119063">
              <a:buFont typeface="Arial" panose="020B0604020202020204" pitchFamily="34" charset="0"/>
              <a:buChar char="•"/>
            </a:pPr>
            <a:r>
              <a:rPr lang="en-SG" sz="1350" dirty="0">
                <a:solidFill>
                  <a:schemeClr val="tx1"/>
                </a:solidFill>
              </a:rPr>
              <a:t>Product Tech: mechanical watch technology (with accurate oscillator), produced the first wristwatch quartz movements in 1967.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Innovation</a:t>
            </a:r>
            <a:r>
              <a:rPr lang="en-SG" sz="1350" dirty="0">
                <a:solidFill>
                  <a:schemeClr val="tx1"/>
                </a:solidFill>
              </a:rPr>
              <a:t>: artesian w. high quality </a:t>
            </a:r>
            <a:r>
              <a:rPr lang="en-SG" sz="1350" dirty="0" err="1">
                <a:solidFill>
                  <a:schemeClr val="tx1"/>
                </a:solidFill>
              </a:rPr>
              <a:t>creatie</a:t>
            </a:r>
            <a:r>
              <a:rPr lang="en-SG" sz="1350" dirty="0">
                <a:solidFill>
                  <a:schemeClr val="tx1"/>
                </a:solidFill>
              </a:rPr>
              <a:t> in design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Demand</a:t>
            </a:r>
            <a:r>
              <a:rPr lang="en-SG" sz="1350" dirty="0">
                <a:solidFill>
                  <a:schemeClr val="tx1"/>
                </a:solidFill>
              </a:rPr>
              <a:t>: customers buy what they make at the price they set</a:t>
            </a: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</p:txBody>
      </p:sp>
      <p:sp>
        <p:nvSpPr>
          <p:cNvPr id="7" name="AutoShape 23">
            <a:extLst>
              <a:ext uri="{FF2B5EF4-FFF2-40B4-BE49-F238E27FC236}">
                <a16:creationId xmlns:a16="http://schemas.microsoft.com/office/drawing/2014/main" id="{9B0BDE69-04C1-251B-DFD4-EF9C29C9C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753678"/>
            <a:ext cx="7789652" cy="718428"/>
          </a:xfrm>
          <a:custGeom>
            <a:avLst/>
            <a:gdLst>
              <a:gd name="connsiteX0" fmla="*/ 0 w 7919226"/>
              <a:gd name="connsiteY0" fmla="*/ 2873514 h 2873514"/>
              <a:gd name="connsiteX1" fmla="*/ 3959613 w 7919226"/>
              <a:gd name="connsiteY1" fmla="*/ 0 h 2873514"/>
              <a:gd name="connsiteX2" fmla="*/ 7919226 w 7919226"/>
              <a:gd name="connsiteY2" fmla="*/ 2873514 h 2873514"/>
              <a:gd name="connsiteX3" fmla="*/ 0 w 7919226"/>
              <a:gd name="connsiteY3" fmla="*/ 2873514 h 2873514"/>
              <a:gd name="connsiteX0" fmla="*/ 0 w 7962358"/>
              <a:gd name="connsiteY0" fmla="*/ 2873514 h 2890767"/>
              <a:gd name="connsiteX1" fmla="*/ 3959613 w 7962358"/>
              <a:gd name="connsiteY1" fmla="*/ 0 h 2890767"/>
              <a:gd name="connsiteX2" fmla="*/ 7962358 w 7962358"/>
              <a:gd name="connsiteY2" fmla="*/ 2890767 h 2890767"/>
              <a:gd name="connsiteX3" fmla="*/ 0 w 7962358"/>
              <a:gd name="connsiteY3" fmla="*/ 2873514 h 2890767"/>
              <a:gd name="connsiteX0" fmla="*/ 0 w 7962358"/>
              <a:gd name="connsiteY0" fmla="*/ 2873514 h 2890767"/>
              <a:gd name="connsiteX1" fmla="*/ 3959613 w 7962358"/>
              <a:gd name="connsiteY1" fmla="*/ 0 h 2890767"/>
              <a:gd name="connsiteX2" fmla="*/ 7962358 w 7962358"/>
              <a:gd name="connsiteY2" fmla="*/ 2890767 h 2890767"/>
              <a:gd name="connsiteX3" fmla="*/ 0 w 7962358"/>
              <a:gd name="connsiteY3" fmla="*/ 2873514 h 2890767"/>
              <a:gd name="connsiteX0" fmla="*/ 0 w 7962358"/>
              <a:gd name="connsiteY0" fmla="*/ 1967740 h 2890767"/>
              <a:gd name="connsiteX1" fmla="*/ 3959613 w 7962358"/>
              <a:gd name="connsiteY1" fmla="*/ 0 h 2890767"/>
              <a:gd name="connsiteX2" fmla="*/ 7962358 w 7962358"/>
              <a:gd name="connsiteY2" fmla="*/ 2890767 h 2890767"/>
              <a:gd name="connsiteX3" fmla="*/ 0 w 7962358"/>
              <a:gd name="connsiteY3" fmla="*/ 1967740 h 2890767"/>
              <a:gd name="connsiteX0" fmla="*/ 0 w 8083128"/>
              <a:gd name="connsiteY0" fmla="*/ 1967740 h 1967740"/>
              <a:gd name="connsiteX1" fmla="*/ 3959613 w 8083128"/>
              <a:gd name="connsiteY1" fmla="*/ 0 h 1967740"/>
              <a:gd name="connsiteX2" fmla="*/ 8083128 w 8083128"/>
              <a:gd name="connsiteY2" fmla="*/ 1941861 h 1967740"/>
              <a:gd name="connsiteX3" fmla="*/ 0 w 8083128"/>
              <a:gd name="connsiteY3" fmla="*/ 1967740 h 1967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3128" h="1967740">
                <a:moveTo>
                  <a:pt x="0" y="1967740"/>
                </a:moveTo>
                <a:lnTo>
                  <a:pt x="3959613" y="0"/>
                </a:lnTo>
                <a:lnTo>
                  <a:pt x="8083128" y="1941861"/>
                </a:lnTo>
                <a:lnTo>
                  <a:pt x="0" y="196774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anchor="b" anchorCtr="0">
            <a:normAutofit/>
          </a:bodyPr>
          <a:lstStyle/>
          <a:p>
            <a:pPr algn="ctr" eaLnBrk="0" hangingPunct="0"/>
            <a:r>
              <a:rPr lang="en-US" sz="1500" b="1" dirty="0">
                <a:solidFill>
                  <a:schemeClr val="bg1"/>
                </a:solidFill>
              </a:rPr>
              <a:t>SWISS</a:t>
            </a:r>
          </a:p>
          <a:p>
            <a:pPr algn="ctr" eaLnBrk="0" hangingPunct="0"/>
            <a:r>
              <a:rPr lang="en-US" sz="1500" b="1" dirty="0">
                <a:solidFill>
                  <a:schemeClr val="bg1"/>
                </a:solidFill>
              </a:rPr>
              <a:t>Operations Strategy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A3F9E5-8660-7A06-DF4C-77712572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8507" y="6386623"/>
            <a:ext cx="1981200" cy="365760"/>
          </a:xfrm>
        </p:spPr>
        <p:txBody>
          <a:bodyPr/>
          <a:lstStyle/>
          <a:p>
            <a:fld id="{990291BB-02D4-4E47-A698-2E07BBB4E26E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8EBE47-ACEB-7E4D-1403-2F2CDC975C94}"/>
              </a:ext>
            </a:extLst>
          </p:cNvPr>
          <p:cNvSpPr/>
          <p:nvPr/>
        </p:nvSpPr>
        <p:spPr>
          <a:xfrm>
            <a:off x="2964023" y="1510546"/>
            <a:ext cx="2977290" cy="30777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Calibri" pitchFamily="34" charset="0"/>
                <a:cs typeface="Calibri" pitchFamily="34" charset="0"/>
              </a:rPr>
              <a:t>Price, Quality, Responsiveness, Variety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1598896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65E18E-CE61-FD8F-2728-3B67B51F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134184-564C-2B40-90DB-0C612358F875}"/>
              </a:ext>
            </a:extLst>
          </p:cNvPr>
          <p:cNvSpPr/>
          <p:nvPr/>
        </p:nvSpPr>
        <p:spPr>
          <a:xfrm>
            <a:off x="728932" y="2133600"/>
            <a:ext cx="7686136" cy="702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 sz="1350" b="1" u="sng" dirty="0">
              <a:solidFill>
                <a:schemeClr val="tx1"/>
              </a:solidFill>
            </a:endParaRPr>
          </a:p>
          <a:p>
            <a:pPr algn="ctr"/>
            <a:r>
              <a:rPr lang="en-SG" sz="1350" b="1" u="sng" dirty="0">
                <a:solidFill>
                  <a:schemeClr val="tx1"/>
                </a:solidFill>
              </a:rPr>
              <a:t>Capabilities view of operations</a:t>
            </a:r>
          </a:p>
          <a:p>
            <a:pPr algn="ctr"/>
            <a:r>
              <a:rPr lang="en-SG" sz="1350" dirty="0">
                <a:solidFill>
                  <a:schemeClr val="tx1"/>
                </a:solidFill>
              </a:rPr>
              <a:t>Very Low Cost at Good Quality</a:t>
            </a:r>
          </a:p>
          <a:p>
            <a:pPr algn="ctr"/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32A1CA-41E4-C15A-BE5E-3444B40A36F1}"/>
              </a:ext>
            </a:extLst>
          </p:cNvPr>
          <p:cNvSpPr/>
          <p:nvPr/>
        </p:nvSpPr>
        <p:spPr>
          <a:xfrm>
            <a:off x="728932" y="3319706"/>
            <a:ext cx="2460685" cy="28481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r>
              <a:rPr lang="en-SG" sz="1350" b="1" u="sng" dirty="0">
                <a:solidFill>
                  <a:schemeClr val="tx1"/>
                </a:solidFill>
              </a:rPr>
              <a:t>Resource View of operations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Size</a:t>
            </a:r>
            <a:r>
              <a:rPr lang="en-SG" sz="1350" dirty="0">
                <a:solidFill>
                  <a:schemeClr val="tx1"/>
                </a:solidFill>
              </a:rPr>
              <a:t>: large for EOS to target low-end market segment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Timing</a:t>
            </a:r>
            <a:r>
              <a:rPr lang="en-SG" sz="1350" dirty="0">
                <a:solidFill>
                  <a:schemeClr val="tx1"/>
                </a:solidFill>
              </a:rPr>
              <a:t>: created the low-end market with leading capacity strategy for scale economy and growing demand </a:t>
            </a:r>
            <a:endParaRPr lang="en-SG" sz="1350" u="sng" dirty="0">
              <a:solidFill>
                <a:schemeClr val="tx1"/>
              </a:solidFill>
            </a:endParaRPr>
          </a:p>
          <a:p>
            <a:r>
              <a:rPr lang="en-SG" sz="1350" u="sng" dirty="0">
                <a:solidFill>
                  <a:schemeClr val="tx1"/>
                </a:solidFill>
              </a:rPr>
              <a:t>Type</a:t>
            </a:r>
            <a:r>
              <a:rPr lang="en-SG" sz="1350" dirty="0">
                <a:solidFill>
                  <a:schemeClr val="tx1"/>
                </a:solidFill>
              </a:rPr>
              <a:t>: automation and mass production repetitively 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Location</a:t>
            </a:r>
            <a:r>
              <a:rPr lang="en-SG" sz="1350" dirty="0">
                <a:solidFill>
                  <a:schemeClr val="tx1"/>
                </a:solidFill>
              </a:rPr>
              <a:t>: Hong Kong, Singapore, Malaysia, and Japan</a:t>
            </a: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1436E5-EEB0-BFDC-FE56-1774189C9555}"/>
              </a:ext>
            </a:extLst>
          </p:cNvPr>
          <p:cNvSpPr/>
          <p:nvPr/>
        </p:nvSpPr>
        <p:spPr>
          <a:xfrm>
            <a:off x="3265817" y="3303342"/>
            <a:ext cx="5252767" cy="28644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  <a:p>
            <a:r>
              <a:rPr lang="en-SG" sz="1350" b="1" u="sng" dirty="0">
                <a:solidFill>
                  <a:schemeClr val="tx1"/>
                </a:solidFill>
              </a:rPr>
              <a:t>Process View of operations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Supply</a:t>
            </a:r>
            <a:r>
              <a:rPr lang="en-SG" sz="1350" dirty="0">
                <a:solidFill>
                  <a:schemeClr val="tx1"/>
                </a:solidFill>
              </a:rPr>
              <a:t>: components fabrications and assembles were outsourced to HK, Singapore and Malaysia; o/w/ vertical integrated SC especially in design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Technology</a:t>
            </a:r>
            <a:r>
              <a:rPr lang="en-SG" sz="1350" dirty="0">
                <a:solidFill>
                  <a:schemeClr val="tx1"/>
                </a:solidFill>
              </a:rPr>
              <a:t>: </a:t>
            </a:r>
          </a:p>
          <a:p>
            <a:pPr marL="139700" indent="-139700">
              <a:buFont typeface="Arial" panose="020B0604020202020204" pitchFamily="34" charset="0"/>
              <a:buChar char="•"/>
            </a:pPr>
            <a:r>
              <a:rPr lang="en-SG" sz="1350" dirty="0">
                <a:solidFill>
                  <a:schemeClr val="tx1"/>
                </a:solidFill>
              </a:rPr>
              <a:t>Process Tech: mass production line with automation </a:t>
            </a:r>
          </a:p>
          <a:p>
            <a:pPr marL="139700" indent="-139700">
              <a:buFont typeface="Arial" panose="020B0604020202020204" pitchFamily="34" charset="0"/>
              <a:buChar char="•"/>
            </a:pPr>
            <a:r>
              <a:rPr lang="en-SG" sz="1350" dirty="0">
                <a:solidFill>
                  <a:schemeClr val="tx1"/>
                </a:solidFill>
              </a:rPr>
              <a:t>Product Tech: electrical quartz watch technology (Hamilton’s battery replaces spring to power balanced-wheel mechanical system, later Bulova’s battery generated circuits e.g. transistors, to power vibrating fork instead of balanced-wheel). 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Innovation</a:t>
            </a:r>
            <a:r>
              <a:rPr lang="en-SG" sz="1350" dirty="0">
                <a:solidFill>
                  <a:schemeClr val="tx1"/>
                </a:solidFill>
              </a:rPr>
              <a:t>: standardized movements, created the low-end market, closed the technology gap by designing analogy and quartz watch with </a:t>
            </a:r>
            <a:r>
              <a:rPr lang="en-US" sz="1350" dirty="0">
                <a:solidFill>
                  <a:schemeClr val="tx1"/>
                </a:solidFill>
              </a:rPr>
              <a:t>standardized movements</a:t>
            </a:r>
          </a:p>
          <a:p>
            <a:r>
              <a:rPr lang="en-SG" sz="1350" u="sng" dirty="0">
                <a:solidFill>
                  <a:schemeClr val="tx1"/>
                </a:solidFill>
              </a:rPr>
              <a:t>Demand</a:t>
            </a:r>
            <a:r>
              <a:rPr lang="en-SG" sz="1350" dirty="0">
                <a:solidFill>
                  <a:schemeClr val="tx1"/>
                </a:solidFill>
              </a:rPr>
              <a:t>: competitive low prices</a:t>
            </a: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dirty="0">
              <a:solidFill>
                <a:schemeClr val="tx1"/>
              </a:solidFill>
            </a:endParaRPr>
          </a:p>
          <a:p>
            <a:endParaRPr lang="en-SG" sz="1350" b="1" u="sng" dirty="0">
              <a:solidFill>
                <a:schemeClr val="tx1"/>
              </a:solidFill>
            </a:endParaRPr>
          </a:p>
        </p:txBody>
      </p:sp>
      <p:sp>
        <p:nvSpPr>
          <p:cNvPr id="7" name="AutoShape 23">
            <a:extLst>
              <a:ext uri="{FF2B5EF4-FFF2-40B4-BE49-F238E27FC236}">
                <a16:creationId xmlns:a16="http://schemas.microsoft.com/office/drawing/2014/main" id="{024B423C-3394-8318-DF67-53A924189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32" y="2601278"/>
            <a:ext cx="7789652" cy="718428"/>
          </a:xfrm>
          <a:custGeom>
            <a:avLst/>
            <a:gdLst>
              <a:gd name="connsiteX0" fmla="*/ 0 w 7919226"/>
              <a:gd name="connsiteY0" fmla="*/ 2873514 h 2873514"/>
              <a:gd name="connsiteX1" fmla="*/ 3959613 w 7919226"/>
              <a:gd name="connsiteY1" fmla="*/ 0 h 2873514"/>
              <a:gd name="connsiteX2" fmla="*/ 7919226 w 7919226"/>
              <a:gd name="connsiteY2" fmla="*/ 2873514 h 2873514"/>
              <a:gd name="connsiteX3" fmla="*/ 0 w 7919226"/>
              <a:gd name="connsiteY3" fmla="*/ 2873514 h 2873514"/>
              <a:gd name="connsiteX0" fmla="*/ 0 w 7962358"/>
              <a:gd name="connsiteY0" fmla="*/ 2873514 h 2890767"/>
              <a:gd name="connsiteX1" fmla="*/ 3959613 w 7962358"/>
              <a:gd name="connsiteY1" fmla="*/ 0 h 2890767"/>
              <a:gd name="connsiteX2" fmla="*/ 7962358 w 7962358"/>
              <a:gd name="connsiteY2" fmla="*/ 2890767 h 2890767"/>
              <a:gd name="connsiteX3" fmla="*/ 0 w 7962358"/>
              <a:gd name="connsiteY3" fmla="*/ 2873514 h 2890767"/>
              <a:gd name="connsiteX0" fmla="*/ 0 w 7962358"/>
              <a:gd name="connsiteY0" fmla="*/ 2873514 h 2890767"/>
              <a:gd name="connsiteX1" fmla="*/ 3959613 w 7962358"/>
              <a:gd name="connsiteY1" fmla="*/ 0 h 2890767"/>
              <a:gd name="connsiteX2" fmla="*/ 7962358 w 7962358"/>
              <a:gd name="connsiteY2" fmla="*/ 2890767 h 2890767"/>
              <a:gd name="connsiteX3" fmla="*/ 0 w 7962358"/>
              <a:gd name="connsiteY3" fmla="*/ 2873514 h 2890767"/>
              <a:gd name="connsiteX0" fmla="*/ 0 w 7962358"/>
              <a:gd name="connsiteY0" fmla="*/ 1967740 h 2890767"/>
              <a:gd name="connsiteX1" fmla="*/ 3959613 w 7962358"/>
              <a:gd name="connsiteY1" fmla="*/ 0 h 2890767"/>
              <a:gd name="connsiteX2" fmla="*/ 7962358 w 7962358"/>
              <a:gd name="connsiteY2" fmla="*/ 2890767 h 2890767"/>
              <a:gd name="connsiteX3" fmla="*/ 0 w 7962358"/>
              <a:gd name="connsiteY3" fmla="*/ 1967740 h 2890767"/>
              <a:gd name="connsiteX0" fmla="*/ 0 w 8083128"/>
              <a:gd name="connsiteY0" fmla="*/ 1967740 h 1967740"/>
              <a:gd name="connsiteX1" fmla="*/ 3959613 w 8083128"/>
              <a:gd name="connsiteY1" fmla="*/ 0 h 1967740"/>
              <a:gd name="connsiteX2" fmla="*/ 8083128 w 8083128"/>
              <a:gd name="connsiteY2" fmla="*/ 1941861 h 1967740"/>
              <a:gd name="connsiteX3" fmla="*/ 0 w 8083128"/>
              <a:gd name="connsiteY3" fmla="*/ 1967740 h 1967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3128" h="1967740">
                <a:moveTo>
                  <a:pt x="0" y="1967740"/>
                </a:moveTo>
                <a:lnTo>
                  <a:pt x="3959613" y="0"/>
                </a:lnTo>
                <a:lnTo>
                  <a:pt x="8083128" y="1941861"/>
                </a:lnTo>
                <a:lnTo>
                  <a:pt x="0" y="1967740"/>
                </a:lnTo>
                <a:close/>
              </a:path>
            </a:pathLst>
          </a:custGeom>
          <a:solidFill>
            <a:srgbClr val="0000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anchor="b" anchorCtr="0">
            <a:normAutofit/>
          </a:bodyPr>
          <a:lstStyle/>
          <a:p>
            <a:pPr algn="ctr" eaLnBrk="0" hangingPunct="0"/>
            <a:r>
              <a:rPr lang="en-US" sz="1500" b="1" dirty="0">
                <a:solidFill>
                  <a:schemeClr val="bg1"/>
                </a:solidFill>
              </a:rPr>
              <a:t>Operations Strategy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952655-BB37-929C-75AD-233E338E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91BB-02D4-4E47-A698-2E07BBB4E26E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9A84C8-67BE-371A-9883-3D6912F0E3C4}"/>
              </a:ext>
            </a:extLst>
          </p:cNvPr>
          <p:cNvSpPr/>
          <p:nvPr/>
        </p:nvSpPr>
        <p:spPr>
          <a:xfrm>
            <a:off x="3083355" y="1341782"/>
            <a:ext cx="2977290" cy="30777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sz="1400" dirty="0">
                <a:latin typeface="Calibri" pitchFamily="34" charset="0"/>
                <a:cs typeface="Calibri" pitchFamily="34" charset="0"/>
              </a:rPr>
              <a:t>Price, Quality, Responsiveness, Variety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2910234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6473</TotalTime>
  <Words>307</Words>
  <Application>Microsoft Macintosh PowerPoint</Application>
  <PresentationFormat>On-screen Show (4:3)</PresentationFormat>
  <Paragraphs>65</Paragraphs>
  <Slides>2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Wingdings</vt:lpstr>
      <vt:lpstr>Wingdings 3</vt:lpstr>
      <vt:lpstr>Origin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Framework</dc:title>
  <dc:subject/>
  <dc:creator>Qi Mei</dc:creator>
  <cp:keywords/>
  <dc:description/>
  <cp:lastModifiedBy>Qi Mei</cp:lastModifiedBy>
  <cp:revision>590</cp:revision>
  <cp:lastPrinted>2022-08-22T01:32:47Z</cp:lastPrinted>
  <dcterms:created xsi:type="dcterms:W3CDTF">2013-01-10T06:14:12Z</dcterms:created>
  <dcterms:modified xsi:type="dcterms:W3CDTF">2025-08-15T22:45:04Z</dcterms:modified>
  <cp:category/>
</cp:coreProperties>
</file>